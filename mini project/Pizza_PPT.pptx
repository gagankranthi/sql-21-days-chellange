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6" r:id="rId8"/>
    <p:sldId id="268" r:id="rId9"/>
    <p:sldId id="270" r:id="rId10"/>
    <p:sldId id="271" r:id="rId11"/>
    <p:sldId id="27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2693987"/>
            <a:ext cx="10363200" cy="1470025"/>
          </a:xfrm>
        </p:spPr>
        <p:txBody>
          <a:bodyPr/>
          <a:lstStyle/>
          <a:p>
            <a:pPr>
              <a:defRPr sz="5000">
                <a:solidFill>
                  <a:srgbClr val="FFFFFF"/>
                </a:solidFill>
              </a:defRPr>
            </a:pPr>
            <a:r>
              <a:rPr b="1" dirty="0">
                <a:highlight>
                  <a:srgbClr val="C0C0C0"/>
                </a:highlight>
              </a:rPr>
              <a:t>Pizza SQL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263384" cy="1143000"/>
          </a:xfrm>
        </p:spPr>
        <p:txBody>
          <a:bodyPr>
            <a:normAutofit fontScale="90000"/>
          </a:bodyPr>
          <a:lstStyle/>
          <a:p>
            <a:pPr>
              <a:defRPr sz="3800">
                <a:solidFill>
                  <a:srgbClr val="FFFFFF"/>
                </a:solidFill>
              </a:defRPr>
            </a:pPr>
            <a:r>
              <a:rPr lang="en-IN" dirty="0"/>
              <a:t>Phase 1: Foundation &amp; </a:t>
            </a:r>
            <a:r>
              <a:rPr lang="en-IN" dirty="0" err="1"/>
              <a:t>InspectionPhase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9464" y="2148840"/>
            <a:ext cx="5077968" cy="2926080"/>
          </a:xfrm>
        </p:spPr>
        <p:txBody>
          <a:bodyPr>
            <a:normAutofit/>
          </a:bodyPr>
          <a:lstStyle/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sz="3600" dirty="0"/>
              <a:t>2.List all unique pizza categories (DISTINCT)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sz="3600" dirty="0"/>
              <a:t>SQL: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dirty="0"/>
              <a:t>SELECT DISTINCT category </a:t>
            </a:r>
            <a:endParaRPr lang="en-IN" dirty="0"/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dirty="0"/>
              <a:t>FROM </a:t>
            </a:r>
            <a:r>
              <a:rPr dirty="0" err="1"/>
              <a:t>pizza_types</a:t>
            </a:r>
            <a:r>
              <a:rPr dirty="0"/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F6DF2F-491F-9A00-6934-9222BAA42748}"/>
              </a:ext>
            </a:extLst>
          </p:cNvPr>
          <p:cNvSpPr txBox="1"/>
          <p:nvPr/>
        </p:nvSpPr>
        <p:spPr>
          <a:xfrm>
            <a:off x="1081278" y="2351782"/>
            <a:ext cx="42953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1.Install </a:t>
            </a:r>
            <a:r>
              <a:rPr lang="en-IN" sz="3200" dirty="0" err="1">
                <a:solidFill>
                  <a:schemeClr val="bg1"/>
                </a:solidFill>
              </a:rPr>
              <a:t>IDC_Pizza.dump</a:t>
            </a:r>
            <a:r>
              <a:rPr lang="en-IN" sz="3200" dirty="0">
                <a:solidFill>
                  <a:schemeClr val="bg1"/>
                </a:solidFill>
              </a:rPr>
              <a:t> as </a:t>
            </a:r>
            <a:r>
              <a:rPr lang="en-IN" sz="3200" dirty="0" err="1">
                <a:solidFill>
                  <a:schemeClr val="bg1"/>
                </a:solidFill>
              </a:rPr>
              <a:t>IDC_Pizza</a:t>
            </a:r>
            <a:r>
              <a:rPr lang="en-IN" sz="3200" dirty="0">
                <a:solidFill>
                  <a:schemeClr val="bg1"/>
                </a:solidFill>
              </a:rPr>
              <a:t> 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17208" y="1572769"/>
            <a:ext cx="5187696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4.Check for pizzas missing a price (IS NULL).</a:t>
            </a:r>
            <a:endParaRPr dirty="0">
              <a:solidFill>
                <a:schemeClr val="bg1"/>
              </a:solidFill>
            </a:endParaRP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IS NULL checks empty price fields.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Useful for data cleaning.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dirty="0"/>
              <a:t>SQL: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dirty="0"/>
              <a:t>SELECT </a:t>
            </a:r>
            <a:r>
              <a:rPr dirty="0" err="1"/>
              <a:t>pizza_id</a:t>
            </a:r>
            <a:r>
              <a:rPr dirty="0"/>
              <a:t>, size, </a:t>
            </a:r>
            <a:endParaRPr lang="en-IN" dirty="0"/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	</a:t>
            </a:r>
            <a:r>
              <a:rPr dirty="0"/>
              <a:t>price </a:t>
            </a:r>
            <a:endParaRPr lang="en-IN" dirty="0"/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dirty="0"/>
              <a:t>FROM pizzas </a:t>
            </a:r>
            <a:endParaRPr lang="en-IN" dirty="0"/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dirty="0"/>
              <a:t>WHERE price IS NULL;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FE2FE3-525A-42AD-F008-0B32A69B1111}"/>
              </a:ext>
            </a:extLst>
          </p:cNvPr>
          <p:cNvSpPr txBox="1"/>
          <p:nvPr/>
        </p:nvSpPr>
        <p:spPr>
          <a:xfrm>
            <a:off x="565404" y="1572769"/>
            <a:ext cx="5378196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rPr lang="en-US" sz="3200" dirty="0"/>
              <a:t>3.Display </a:t>
            </a:r>
            <a:r>
              <a:rPr lang="en-US" sz="3200" dirty="0" err="1"/>
              <a:t>pizza_type_id</a:t>
            </a:r>
            <a:r>
              <a:rPr lang="en-US" sz="3200" dirty="0"/>
              <a:t>, name, and ingredients, replacing NULL ingredients with "Missing Data". Show first 5 rows.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IN" dirty="0"/>
              <a:t>SQL: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IN" dirty="0"/>
              <a:t>SELECT </a:t>
            </a:r>
            <a:r>
              <a:rPr lang="en-IN" dirty="0" err="1"/>
              <a:t>pizza_type_id</a:t>
            </a:r>
            <a:r>
              <a:rPr lang="en-IN" dirty="0"/>
              <a:t>, 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IN" dirty="0"/>
              <a:t>	name, 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IN" dirty="0"/>
              <a:t>	COALESCE(</a:t>
            </a:r>
            <a:r>
              <a:rPr lang="en-IN" dirty="0" err="1"/>
              <a:t>ingredients,'Missing</a:t>
            </a:r>
            <a:r>
              <a:rPr lang="en-IN" dirty="0"/>
              <a:t> Data’) 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FROM </a:t>
            </a:r>
            <a:r>
              <a:rPr lang="en-IN" dirty="0" err="1"/>
              <a:t>pizza_types</a:t>
            </a:r>
            <a:r>
              <a:rPr lang="en-IN" dirty="0"/>
              <a:t> LIMIT 5;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FFFFFF"/>
                </a:solidFill>
              </a:defRPr>
            </a:pPr>
            <a:r>
              <a:rPr lang="en-IN" dirty="0"/>
              <a:t>Phase 2: Filtering &amp; Exploration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4575048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1.Orders placed on '2015-01-01' (SELECT + WHERE).</a:t>
            </a:r>
            <a:endParaRPr dirty="0">
              <a:solidFill>
                <a:schemeClr val="bg1"/>
              </a:solidFill>
            </a:endParaRP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dirty="0">
                <a:solidFill>
                  <a:schemeClr val="bg1"/>
                </a:solidFill>
              </a:rPr>
              <a:t>Filters records using WHERE.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dirty="0">
                <a:solidFill>
                  <a:schemeClr val="bg1"/>
                </a:solidFill>
              </a:rPr>
              <a:t>SQL: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dirty="0">
                <a:solidFill>
                  <a:schemeClr val="bg1"/>
                </a:solidFill>
              </a:rPr>
              <a:t>SELECT </a:t>
            </a:r>
            <a:r>
              <a:rPr dirty="0" err="1">
                <a:solidFill>
                  <a:schemeClr val="bg1"/>
                </a:solidFill>
              </a:rPr>
              <a:t>order_id</a:t>
            </a:r>
            <a:r>
              <a:rPr dirty="0">
                <a:solidFill>
                  <a:schemeClr val="bg1"/>
                </a:solidFill>
              </a:rPr>
              <a:t>, </a:t>
            </a:r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	</a:t>
            </a:r>
            <a:r>
              <a:rPr dirty="0">
                <a:solidFill>
                  <a:schemeClr val="bg1"/>
                </a:solidFill>
              </a:rPr>
              <a:t>date, </a:t>
            </a:r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	</a:t>
            </a:r>
            <a:r>
              <a:rPr dirty="0">
                <a:solidFill>
                  <a:schemeClr val="bg1"/>
                </a:solidFill>
              </a:rPr>
              <a:t>time </a:t>
            </a:r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dirty="0">
                <a:solidFill>
                  <a:schemeClr val="bg1"/>
                </a:solidFill>
              </a:rPr>
              <a:t>FROM orders </a:t>
            </a:r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dirty="0">
                <a:solidFill>
                  <a:schemeClr val="bg1"/>
                </a:solidFill>
              </a:rPr>
              <a:t>WHERE date='2015-01-01';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6D5D2-8F53-9491-4210-1D034191A3F5}"/>
              </a:ext>
            </a:extLst>
          </p:cNvPr>
          <p:cNvSpPr txBox="1"/>
          <p:nvPr/>
        </p:nvSpPr>
        <p:spPr>
          <a:xfrm>
            <a:off x="6329934" y="1600201"/>
            <a:ext cx="481660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2.List pizzas with price descending.</a:t>
            </a:r>
          </a:p>
          <a:p>
            <a:r>
              <a:rPr lang="en-IN" sz="3200" dirty="0">
                <a:solidFill>
                  <a:schemeClr val="bg1"/>
                </a:solidFill>
              </a:rPr>
              <a:t>SELECT </a:t>
            </a:r>
          </a:p>
          <a:p>
            <a:r>
              <a:rPr lang="en-IN" sz="3200" dirty="0">
                <a:solidFill>
                  <a:schemeClr val="bg1"/>
                </a:solidFill>
              </a:rPr>
              <a:t>	</a:t>
            </a:r>
            <a:r>
              <a:rPr lang="en-IN" sz="3200" dirty="0" err="1">
                <a:solidFill>
                  <a:schemeClr val="bg1"/>
                </a:solidFill>
              </a:rPr>
              <a:t>pizza_id</a:t>
            </a:r>
            <a:r>
              <a:rPr lang="en-IN" sz="3200" dirty="0">
                <a:solidFill>
                  <a:schemeClr val="bg1"/>
                </a:solidFill>
              </a:rPr>
              <a:t>, size, </a:t>
            </a:r>
          </a:p>
          <a:p>
            <a:r>
              <a:rPr lang="en-IN" sz="3200" dirty="0">
                <a:solidFill>
                  <a:schemeClr val="bg1"/>
                </a:solidFill>
              </a:rPr>
              <a:t>	price </a:t>
            </a:r>
          </a:p>
          <a:p>
            <a:r>
              <a:rPr lang="en-IN" sz="3200" dirty="0">
                <a:solidFill>
                  <a:schemeClr val="bg1"/>
                </a:solidFill>
              </a:rPr>
              <a:t>FROM pizzas</a:t>
            </a:r>
          </a:p>
          <a:p>
            <a:r>
              <a:rPr lang="en-IN" sz="3200" dirty="0">
                <a:solidFill>
                  <a:schemeClr val="bg1"/>
                </a:solidFill>
              </a:rPr>
              <a:t>ORDER BY price DESC</a:t>
            </a:r>
            <a:r>
              <a:rPr lang="en-IN" sz="3200" dirty="0"/>
              <a:t>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8472" y="1481329"/>
            <a:ext cx="5138928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3.Pizzas sold in sizes 'L' or 'XL’.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SELECT size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FROM pizzas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WHERE size = 'L’ or size='XL';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DD7A10-7D23-20DC-43A2-78A33A58CA64}"/>
              </a:ext>
            </a:extLst>
          </p:cNvPr>
          <p:cNvSpPr txBox="1"/>
          <p:nvPr/>
        </p:nvSpPr>
        <p:spPr>
          <a:xfrm>
            <a:off x="6097524" y="1522584"/>
            <a:ext cx="564337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4.Pizzas priced between $15.00 and $17.00.</a:t>
            </a:r>
          </a:p>
          <a:p>
            <a:r>
              <a:rPr lang="en-IN" sz="3200" dirty="0">
                <a:solidFill>
                  <a:schemeClr val="bg1"/>
                </a:solidFill>
              </a:rPr>
              <a:t>SELECT </a:t>
            </a:r>
          </a:p>
          <a:p>
            <a:r>
              <a:rPr lang="en-IN" sz="3200" dirty="0">
                <a:solidFill>
                  <a:schemeClr val="bg1"/>
                </a:solidFill>
              </a:rPr>
              <a:t>	</a:t>
            </a:r>
            <a:r>
              <a:rPr lang="en-IN" sz="3200" dirty="0" err="1">
                <a:solidFill>
                  <a:schemeClr val="bg1"/>
                </a:solidFill>
              </a:rPr>
              <a:t>pizza_id</a:t>
            </a:r>
            <a:r>
              <a:rPr lang="en-IN" sz="3200" dirty="0">
                <a:solidFill>
                  <a:schemeClr val="bg1"/>
                </a:solidFill>
              </a:rPr>
              <a:t>, size, price </a:t>
            </a:r>
          </a:p>
          <a:p>
            <a:r>
              <a:rPr lang="en-IN" sz="3200" dirty="0">
                <a:solidFill>
                  <a:schemeClr val="bg1"/>
                </a:solidFill>
              </a:rPr>
              <a:t>FROM pizzas</a:t>
            </a:r>
          </a:p>
          <a:p>
            <a:r>
              <a:rPr lang="en-IN" sz="3200" dirty="0">
                <a:solidFill>
                  <a:schemeClr val="bg1"/>
                </a:solidFill>
              </a:rPr>
              <a:t>WHERE price BETWEEN 15.00 	and 17.00;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5041392" cy="329183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5.Pizzas with "Chicken" in the name.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SELECT category AS name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FROM </a:t>
            </a:r>
            <a:r>
              <a:rPr lang="en-US" dirty="0" err="1">
                <a:solidFill>
                  <a:schemeClr val="bg1"/>
                </a:solidFill>
              </a:rPr>
              <a:t>pizza_types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WHERE category ='Chicken';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9EF333-5967-FEC8-AF66-69A246423BA0}"/>
              </a:ext>
            </a:extLst>
          </p:cNvPr>
          <p:cNvSpPr txBox="1"/>
          <p:nvPr/>
        </p:nvSpPr>
        <p:spPr>
          <a:xfrm>
            <a:off x="6183630" y="1600201"/>
            <a:ext cx="50413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6.Orders on '2015-02-15' or placed after 8 PM.</a:t>
            </a:r>
          </a:p>
          <a:p>
            <a:r>
              <a:rPr lang="en-IN" sz="3200" dirty="0">
                <a:solidFill>
                  <a:schemeClr val="bg1"/>
                </a:solidFill>
              </a:rPr>
              <a:t>SELECT </a:t>
            </a:r>
            <a:r>
              <a:rPr lang="en-IN" sz="3200" dirty="0" err="1">
                <a:solidFill>
                  <a:schemeClr val="bg1"/>
                </a:solidFill>
              </a:rPr>
              <a:t>date,time</a:t>
            </a:r>
            <a:r>
              <a:rPr lang="en-IN" sz="3200" dirty="0">
                <a:solidFill>
                  <a:schemeClr val="bg1"/>
                </a:solidFill>
              </a:rPr>
              <a:t>  </a:t>
            </a:r>
          </a:p>
          <a:p>
            <a:r>
              <a:rPr lang="en-IN" sz="3200" dirty="0">
                <a:solidFill>
                  <a:schemeClr val="bg1"/>
                </a:solidFill>
              </a:rPr>
              <a:t>FROM orders</a:t>
            </a:r>
          </a:p>
          <a:p>
            <a:r>
              <a:rPr lang="en-IN" sz="3200" dirty="0">
                <a:solidFill>
                  <a:schemeClr val="bg1"/>
                </a:solidFill>
              </a:rPr>
              <a:t>WHERE date = '2015-02-15’ 	OR time &gt; '20:00:00';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FFFFFF"/>
                </a:solidFill>
              </a:defRPr>
            </a:pPr>
            <a:r>
              <a:rPr lang="en-IN" dirty="0"/>
              <a:t>Phase 3: Sales Performance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16326"/>
            <a:ext cx="4776216" cy="2417141"/>
          </a:xfrm>
        </p:spPr>
        <p:txBody>
          <a:bodyPr>
            <a:normAutofit/>
          </a:bodyPr>
          <a:lstStyle/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US" dirty="0"/>
              <a:t>1.Total quantity of pizzas sold (SUM).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US" dirty="0"/>
              <a:t>SELECT 	SUM(quantity) AS 	</a:t>
            </a:r>
            <a:r>
              <a:rPr lang="en-US" dirty="0" err="1"/>
              <a:t>Total_quantity</a:t>
            </a:r>
            <a:endParaRPr lang="en-US" dirty="0"/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US" dirty="0"/>
              <a:t>FROM </a:t>
            </a:r>
            <a:r>
              <a:rPr lang="en-US" dirty="0" err="1"/>
              <a:t>order_details</a:t>
            </a:r>
            <a:r>
              <a:rPr lang="en-US" dirty="0"/>
              <a:t>;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9F3D2-8341-18F4-79A7-FE86935CDAD7}"/>
              </a:ext>
            </a:extLst>
          </p:cNvPr>
          <p:cNvSpPr txBox="1"/>
          <p:nvPr/>
        </p:nvSpPr>
        <p:spPr>
          <a:xfrm>
            <a:off x="6816852" y="2292019"/>
            <a:ext cx="312267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</a:rPr>
              <a:t>2.Average pizza price (AVG).</a:t>
            </a:r>
          </a:p>
          <a:p>
            <a:r>
              <a:rPr lang="en-IN" sz="2200" dirty="0">
                <a:solidFill>
                  <a:schemeClr val="bg1"/>
                </a:solidFill>
              </a:rPr>
              <a:t>SELECT AVG(price) AS </a:t>
            </a:r>
            <a:r>
              <a:rPr lang="en-IN" sz="2200" dirty="0" err="1">
                <a:solidFill>
                  <a:schemeClr val="bg1"/>
                </a:solidFill>
              </a:rPr>
              <a:t>avg_price</a:t>
            </a:r>
            <a:endParaRPr lang="en-IN" sz="2200" dirty="0">
              <a:solidFill>
                <a:schemeClr val="bg1"/>
              </a:solidFill>
            </a:endParaRPr>
          </a:p>
          <a:p>
            <a:r>
              <a:rPr lang="en-IN" sz="2200" dirty="0">
                <a:solidFill>
                  <a:schemeClr val="bg1"/>
                </a:solidFill>
              </a:rPr>
              <a:t>FROM pizzas;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5215128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3.Total order value per order (JOIN, SUM, GROUP BY).</a:t>
            </a:r>
            <a:endParaRPr dirty="0">
              <a:solidFill>
                <a:schemeClr val="bg1"/>
              </a:solidFill>
            </a:endParaRP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J</a:t>
            </a:r>
            <a:r>
              <a:rPr dirty="0">
                <a:solidFill>
                  <a:schemeClr val="bg1"/>
                </a:solidFill>
              </a:rPr>
              <a:t>OIN + GROUP BY gives per-order totals.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dirty="0">
                <a:solidFill>
                  <a:schemeClr val="bg1"/>
                </a:solidFill>
              </a:rPr>
              <a:t>SQL: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dirty="0">
                <a:solidFill>
                  <a:schemeClr val="bg1"/>
                </a:solidFill>
              </a:rPr>
              <a:t>SELECT </a:t>
            </a:r>
            <a:r>
              <a:rPr dirty="0" err="1">
                <a:solidFill>
                  <a:schemeClr val="bg1"/>
                </a:solidFill>
              </a:rPr>
              <a:t>od.order_id</a:t>
            </a:r>
            <a:r>
              <a:rPr dirty="0">
                <a:solidFill>
                  <a:schemeClr val="bg1"/>
                </a:solidFill>
              </a:rPr>
              <a:t>, </a:t>
            </a:r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	</a:t>
            </a:r>
            <a:r>
              <a:rPr dirty="0">
                <a:solidFill>
                  <a:schemeClr val="bg1"/>
                </a:solidFill>
              </a:rPr>
              <a:t>SUM(</a:t>
            </a:r>
            <a:r>
              <a:rPr dirty="0" err="1">
                <a:solidFill>
                  <a:schemeClr val="bg1"/>
                </a:solidFill>
              </a:rPr>
              <a:t>od.quantity</a:t>
            </a:r>
            <a:r>
              <a:rPr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dirty="0">
                <a:solidFill>
                  <a:schemeClr val="bg1"/>
                </a:solidFill>
              </a:rPr>
              <a:t>FROM </a:t>
            </a:r>
            <a:r>
              <a:rPr dirty="0" err="1">
                <a:solidFill>
                  <a:schemeClr val="bg1"/>
                </a:solidFill>
              </a:rPr>
              <a:t>order_details</a:t>
            </a:r>
            <a:r>
              <a:rPr dirty="0">
                <a:solidFill>
                  <a:schemeClr val="bg1"/>
                </a:solidFill>
              </a:rPr>
              <a:t> od </a:t>
            </a:r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dirty="0">
                <a:solidFill>
                  <a:schemeClr val="bg1"/>
                </a:solidFill>
              </a:rPr>
              <a:t>JOIN pizzas p ON </a:t>
            </a:r>
            <a:r>
              <a:rPr dirty="0" err="1">
                <a:solidFill>
                  <a:schemeClr val="bg1"/>
                </a:solidFill>
              </a:rPr>
              <a:t>od.pizza_id</a:t>
            </a:r>
            <a:r>
              <a:rPr dirty="0">
                <a:solidFill>
                  <a:schemeClr val="bg1"/>
                </a:solidFill>
              </a:rPr>
              <a:t>=</a:t>
            </a:r>
            <a:r>
              <a:rPr dirty="0" err="1">
                <a:solidFill>
                  <a:schemeClr val="bg1"/>
                </a:solidFill>
              </a:rPr>
              <a:t>p.pizza_id</a:t>
            </a:r>
            <a:endParaRPr dirty="0">
              <a:solidFill>
                <a:schemeClr val="bg1"/>
              </a:solidFill>
            </a:endParaRP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dirty="0">
                <a:solidFill>
                  <a:schemeClr val="bg1"/>
                </a:solidFill>
              </a:rPr>
              <a:t>GROUP BY </a:t>
            </a:r>
            <a:r>
              <a:rPr dirty="0" err="1">
                <a:solidFill>
                  <a:schemeClr val="bg1"/>
                </a:solidFill>
              </a:rPr>
              <a:t>od.order_id</a:t>
            </a:r>
            <a:r>
              <a:rPr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AF2B73-3903-F7E3-E6EC-B2001088A3F4}"/>
              </a:ext>
            </a:extLst>
          </p:cNvPr>
          <p:cNvSpPr txBox="1"/>
          <p:nvPr/>
        </p:nvSpPr>
        <p:spPr>
          <a:xfrm>
            <a:off x="6097524" y="1600201"/>
            <a:ext cx="609447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4.Total quantity sold per pizza category (JOIN, GROUP BY).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IN" sz="2600" dirty="0"/>
              <a:t>JOIN links tables for category totals.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IN" sz="2600" dirty="0"/>
              <a:t>SQL: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IN" sz="2600" dirty="0"/>
              <a:t>SELECT  </a:t>
            </a:r>
            <a:r>
              <a:rPr lang="en-IN" sz="2600" dirty="0" err="1"/>
              <a:t>pt.category</a:t>
            </a:r>
            <a:r>
              <a:rPr lang="en-IN" sz="2600" dirty="0"/>
              <a:t> AS </a:t>
            </a:r>
            <a:r>
              <a:rPr lang="en-IN" sz="2600" dirty="0" err="1"/>
              <a:t>pizza_category</a:t>
            </a:r>
            <a:r>
              <a:rPr lang="en-IN" sz="2600" dirty="0"/>
              <a:t>,    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IN" sz="2600" dirty="0"/>
              <a:t>	SUM(</a:t>
            </a:r>
            <a:r>
              <a:rPr lang="en-IN" sz="2600" dirty="0" err="1"/>
              <a:t>od.quantity</a:t>
            </a:r>
            <a:r>
              <a:rPr lang="en-IN" sz="2600" dirty="0"/>
              <a:t>) AS </a:t>
            </a:r>
            <a:r>
              <a:rPr lang="en-IN" sz="2600" dirty="0" err="1"/>
              <a:t>total_quantityFROM</a:t>
            </a:r>
            <a:r>
              <a:rPr lang="en-IN" sz="2600" dirty="0"/>
              <a:t> </a:t>
            </a:r>
            <a:r>
              <a:rPr lang="en-IN" sz="2600" dirty="0" err="1"/>
              <a:t>pizza_types</a:t>
            </a:r>
            <a:r>
              <a:rPr lang="en-IN" sz="2600" dirty="0"/>
              <a:t> pt 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IN" sz="2600" dirty="0"/>
              <a:t>JOIN pizzas p    ON </a:t>
            </a:r>
            <a:r>
              <a:rPr lang="en-IN" sz="2600" dirty="0" err="1"/>
              <a:t>pt.pizza_type_id</a:t>
            </a:r>
            <a:r>
              <a:rPr lang="en-IN" sz="2600" dirty="0"/>
              <a:t> = </a:t>
            </a:r>
            <a:r>
              <a:rPr lang="en-IN" sz="2600" dirty="0" err="1"/>
              <a:t>p.pizza_type_id</a:t>
            </a:r>
            <a:endParaRPr lang="en-IN" sz="2600" dirty="0"/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IN" sz="2600" dirty="0"/>
              <a:t>JOIN </a:t>
            </a:r>
            <a:r>
              <a:rPr lang="en-IN" sz="2600" dirty="0" err="1"/>
              <a:t>order_details</a:t>
            </a:r>
            <a:r>
              <a:rPr lang="en-IN" sz="2600" dirty="0"/>
              <a:t> od ON </a:t>
            </a:r>
            <a:r>
              <a:rPr lang="en-IN" sz="2600" dirty="0" err="1"/>
              <a:t>p.pizza_id</a:t>
            </a:r>
            <a:r>
              <a:rPr lang="en-IN" sz="2600" dirty="0"/>
              <a:t> = </a:t>
            </a:r>
            <a:r>
              <a:rPr lang="en-IN" sz="2600" dirty="0" err="1"/>
              <a:t>od.pizza_id</a:t>
            </a:r>
            <a:endParaRPr lang="en-IN" sz="2600" dirty="0"/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IN" sz="2600" dirty="0"/>
              <a:t>GROUP BY </a:t>
            </a:r>
            <a:r>
              <a:rPr lang="en-IN" sz="2600" dirty="0" err="1"/>
              <a:t>pizza_category</a:t>
            </a:r>
            <a:r>
              <a:rPr lang="en-IN" sz="2600" dirty="0"/>
              <a:t>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800">
                <a:solidFill>
                  <a:srgbClr val="FFFFFF"/>
                </a:solidFill>
              </a:defRPr>
            </a:pPr>
            <a:r>
              <a:rPr lang="en-US" dirty="0"/>
              <a:t>5.Categories with more than 5,000 pizzas sold (HAVING)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5912" y="1600202"/>
            <a:ext cx="6632448" cy="4525963"/>
          </a:xfrm>
        </p:spPr>
        <p:txBody>
          <a:bodyPr/>
          <a:lstStyle/>
          <a:p>
            <a:endParaRPr dirty="0"/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HAVING filters grouped data (&gt;5000 units).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dirty="0"/>
              <a:t>SQL: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SELECT     </a:t>
            </a:r>
            <a:r>
              <a:rPr lang="en-IN" dirty="0" err="1"/>
              <a:t>pt.category</a:t>
            </a:r>
            <a:r>
              <a:rPr lang="en-IN" dirty="0"/>
              <a:t> AS </a:t>
            </a:r>
            <a:r>
              <a:rPr lang="en-IN" dirty="0" err="1"/>
              <a:t>pizza_category</a:t>
            </a:r>
            <a:r>
              <a:rPr lang="en-IN" dirty="0"/>
              <a:t>,   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	 SUM(</a:t>
            </a:r>
            <a:r>
              <a:rPr lang="en-IN" dirty="0" err="1"/>
              <a:t>od.quantity</a:t>
            </a:r>
            <a:r>
              <a:rPr lang="en-IN" dirty="0"/>
              <a:t>) AS </a:t>
            </a:r>
            <a:r>
              <a:rPr lang="en-IN" dirty="0" err="1"/>
              <a:t>total_quantity</a:t>
            </a:r>
            <a:endParaRPr lang="en-IN" dirty="0"/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FROM </a:t>
            </a:r>
            <a:r>
              <a:rPr lang="en-IN" dirty="0" err="1"/>
              <a:t>pizza_types</a:t>
            </a:r>
            <a:r>
              <a:rPr lang="en-IN" dirty="0"/>
              <a:t> pt 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JOIN pizzas p    ON </a:t>
            </a:r>
            <a:r>
              <a:rPr lang="en-IN" dirty="0" err="1"/>
              <a:t>pt.pizza_type_id</a:t>
            </a:r>
            <a:r>
              <a:rPr lang="en-IN" dirty="0"/>
              <a:t> = </a:t>
            </a:r>
            <a:r>
              <a:rPr lang="en-IN" dirty="0" err="1"/>
              <a:t>p.pizza_type_id</a:t>
            </a:r>
            <a:endParaRPr lang="en-IN" dirty="0"/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JOIN </a:t>
            </a:r>
            <a:r>
              <a:rPr lang="en-IN" dirty="0" err="1"/>
              <a:t>order_details</a:t>
            </a:r>
            <a:r>
              <a:rPr lang="en-IN" dirty="0"/>
              <a:t> od ON </a:t>
            </a:r>
            <a:r>
              <a:rPr lang="en-IN" dirty="0" err="1"/>
              <a:t>p.pizza_id</a:t>
            </a:r>
            <a:r>
              <a:rPr lang="en-IN" dirty="0"/>
              <a:t> = </a:t>
            </a:r>
            <a:r>
              <a:rPr lang="en-IN" dirty="0" err="1"/>
              <a:t>od.pizza_id</a:t>
            </a:r>
            <a:endParaRPr lang="en-IN" dirty="0"/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GROUP BY </a:t>
            </a:r>
            <a:r>
              <a:rPr lang="en-IN" dirty="0" err="1"/>
              <a:t>pt.category</a:t>
            </a:r>
            <a:endParaRPr lang="en-IN" dirty="0"/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HAVING SUM(</a:t>
            </a:r>
            <a:r>
              <a:rPr lang="en-IN" dirty="0" err="1"/>
              <a:t>od.quantity</a:t>
            </a:r>
            <a:r>
              <a:rPr lang="en-IN" dirty="0"/>
              <a:t>) &gt; 5000;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FFFFFF"/>
                </a:solidFill>
              </a:defRPr>
            </a:pPr>
            <a:r>
              <a:rPr lang="en-US" dirty="0"/>
              <a:t>6.Pizzas never ordered (LEFT/RIGHT JOIN)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5640" y="1719073"/>
            <a:ext cx="7299960" cy="4525963"/>
          </a:xfrm>
        </p:spPr>
        <p:txBody>
          <a:bodyPr/>
          <a:lstStyle/>
          <a:p>
            <a:endParaRPr dirty="0"/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LEFT JOIN + NULL finds pizzas with no orders.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dirty="0"/>
              <a:t>SQL: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SELECT     </a:t>
            </a:r>
            <a:r>
              <a:rPr lang="en-IN" dirty="0" err="1"/>
              <a:t>p.pizza_id</a:t>
            </a:r>
            <a:r>
              <a:rPr lang="en-IN" dirty="0"/>
              <a:t>,	</a:t>
            </a:r>
            <a:r>
              <a:rPr lang="en-IN" dirty="0" err="1"/>
              <a:t>p.pizza_type_id</a:t>
            </a:r>
            <a:r>
              <a:rPr lang="en-IN" dirty="0"/>
              <a:t>,	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	</a:t>
            </a:r>
            <a:r>
              <a:rPr lang="en-IN" dirty="0" err="1"/>
              <a:t>p.size</a:t>
            </a:r>
            <a:r>
              <a:rPr lang="en-IN" dirty="0"/>
              <a:t>,	pt.name,	</a:t>
            </a:r>
            <a:r>
              <a:rPr lang="en-IN" dirty="0" err="1"/>
              <a:t>pt.category</a:t>
            </a:r>
            <a:r>
              <a:rPr lang="en-IN" dirty="0"/>
              <a:t>,	</a:t>
            </a:r>
            <a:r>
              <a:rPr lang="en-IN" dirty="0" err="1"/>
              <a:t>od.order_details_id</a:t>
            </a:r>
            <a:endParaRPr lang="en-IN" dirty="0"/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FROM pizzas p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LEFT JOIN </a:t>
            </a:r>
            <a:r>
              <a:rPr lang="en-IN" dirty="0" err="1"/>
              <a:t>pizza_types</a:t>
            </a:r>
            <a:r>
              <a:rPr lang="en-IN" dirty="0"/>
              <a:t> pt    ON </a:t>
            </a:r>
            <a:r>
              <a:rPr lang="en-IN" dirty="0" err="1"/>
              <a:t>p.pizza_type_id</a:t>
            </a:r>
            <a:r>
              <a:rPr lang="en-IN" dirty="0"/>
              <a:t> = </a:t>
            </a:r>
            <a:r>
              <a:rPr lang="en-IN" dirty="0" err="1"/>
              <a:t>pt.pizza_type_id</a:t>
            </a:r>
            <a:endParaRPr lang="en-IN" dirty="0"/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LEFT JOIN </a:t>
            </a:r>
            <a:r>
              <a:rPr lang="en-IN" dirty="0" err="1"/>
              <a:t>order_details</a:t>
            </a:r>
            <a:r>
              <a:rPr lang="en-IN" dirty="0"/>
              <a:t> od ON </a:t>
            </a:r>
            <a:r>
              <a:rPr lang="en-IN" dirty="0" err="1"/>
              <a:t>p.pizza_id</a:t>
            </a:r>
            <a:r>
              <a:rPr lang="en-IN" dirty="0"/>
              <a:t> = </a:t>
            </a:r>
            <a:r>
              <a:rPr lang="en-IN" dirty="0" err="1"/>
              <a:t>od.pizza_id</a:t>
            </a:r>
            <a:endParaRPr lang="en-IN" dirty="0"/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WHERE </a:t>
            </a:r>
            <a:r>
              <a:rPr lang="en-IN" dirty="0" err="1"/>
              <a:t>od.order_details_id</a:t>
            </a:r>
            <a:r>
              <a:rPr lang="en-IN" dirty="0"/>
              <a:t> IS NULL;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800">
                <a:solidFill>
                  <a:srgbClr val="FFFFFF"/>
                </a:solidFill>
              </a:defRPr>
            </a:pPr>
            <a:r>
              <a:rPr dirty="0"/>
              <a:t> </a:t>
            </a:r>
            <a:r>
              <a:rPr lang="en-US" dirty="0"/>
              <a:t>7.Price differences between different sizes of the same pizza (SELF JOIN).</a:t>
            </a:r>
            <a:r>
              <a:rPr dirty="0"/>
              <a:t>Difference (SELF JOIN)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1008" y="1755649"/>
            <a:ext cx="6440424" cy="4525963"/>
          </a:xfrm>
        </p:spPr>
        <p:txBody>
          <a:bodyPr/>
          <a:lstStyle/>
          <a:p>
            <a:endParaRPr dirty="0"/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Self join compares size-based pricing.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dirty="0"/>
              <a:t>SQL: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SELECT p1.pizza_type_id,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	p1.size AS p1_size,	p1.price AS p1_price,	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	p2.size AS p2_size,	p2.price AS p2_price,	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	(p1.price - p2.price) AS </a:t>
            </a:r>
            <a:r>
              <a:rPr lang="en-IN" dirty="0" err="1"/>
              <a:t>difference_price</a:t>
            </a:r>
            <a:endParaRPr lang="en-IN" dirty="0"/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FROM pizzas p1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JOIN pizzas p2 ON p1.pizza_type_id = p2.pizza_type_id</a:t>
            </a:r>
          </a:p>
          <a:p>
            <a:pPr marL="0" indent="0">
              <a:buNone/>
              <a:defRPr sz="2200">
                <a:solidFill>
                  <a:srgbClr val="DCDCDC"/>
                </a:solidFill>
              </a:defRPr>
            </a:pPr>
            <a:r>
              <a:rPr lang="en-IN" dirty="0"/>
              <a:t>ORDER BY p1.pizza_type_id,p1.size ;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864</Words>
  <Application>Microsoft Office PowerPoint</Application>
  <PresentationFormat>Widescreen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Pizza SQL Mini Project</vt:lpstr>
      <vt:lpstr>Phase 1: Foundation &amp; InspectionPhase</vt:lpstr>
      <vt:lpstr>PowerPoint Presentation</vt:lpstr>
      <vt:lpstr>Phase 2: Filtering &amp; Exploration</vt:lpstr>
      <vt:lpstr>PowerPoint Presentation</vt:lpstr>
      <vt:lpstr>PowerPoint Presentation</vt:lpstr>
      <vt:lpstr>Phase 3: Sales Performance</vt:lpstr>
      <vt:lpstr>PowerPoint Presentation</vt:lpstr>
      <vt:lpstr>5.Categories with more than 5,000 pizzas sold (HAVING)</vt:lpstr>
      <vt:lpstr>6.Pizzas never ordered (LEFT/RIGHT JOIN)</vt:lpstr>
      <vt:lpstr> 7.Price differences between different sizes of the same pizza (SELF JOIN).Difference (SELF JOIN)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Gagan mahendra</cp:lastModifiedBy>
  <cp:revision>2</cp:revision>
  <dcterms:created xsi:type="dcterms:W3CDTF">2013-01-27T09:14:16Z</dcterms:created>
  <dcterms:modified xsi:type="dcterms:W3CDTF">2025-11-20T12:35:56Z</dcterms:modified>
  <cp:category/>
</cp:coreProperties>
</file>